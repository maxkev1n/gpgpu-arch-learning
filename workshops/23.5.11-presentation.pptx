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0C3344-BFEE-9252-0434-7EC20B46AA8B}" v="347" dt="2023-05-11T02:25:12.464"/>
    <p1510:client id="{C6DADDB5-DB79-4151-8B77-43D76F8C6820}" v="509" dt="2023-05-10T13:38:17.0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3D17B11-CCD8-4EEC-AD7E-F410C1454966}" type="datetimeFigureOut">
              <a:rPr lang="zh-CN" altLang="en-US" smtClean="0"/>
              <a:t>2023/5/10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CB688-378F-4534-BFFE-AF122467FDB7}" type="slidenum">
              <a:rPr lang="zh-CN" altLang="en-US" smtClean="0"/>
              <a:t>‹#›</a:t>
            </a:fld>
            <a:endParaRPr lang="zh-CN" altLang="en-US"/>
          </a:p>
        </p:txBody>
      </p:sp>
    </p:spTree>
    <p:extLst>
      <p:ext uri="{BB962C8B-B14F-4D97-AF65-F5344CB8AC3E}">
        <p14:creationId xmlns:p14="http://schemas.microsoft.com/office/powerpoint/2010/main" val="2805086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3D17B11-CCD8-4EEC-AD7E-F410C1454966}" type="datetimeFigureOut">
              <a:rPr lang="zh-CN" altLang="en-US" smtClean="0"/>
              <a:t>2023/5/10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CB688-378F-4534-BFFE-AF122467FDB7}" type="slidenum">
              <a:rPr lang="zh-CN" altLang="en-US" smtClean="0"/>
              <a:t>‹#›</a:t>
            </a:fld>
            <a:endParaRPr lang="zh-CN" altLang="en-US"/>
          </a:p>
        </p:txBody>
      </p:sp>
    </p:spTree>
    <p:extLst>
      <p:ext uri="{BB962C8B-B14F-4D97-AF65-F5344CB8AC3E}">
        <p14:creationId xmlns:p14="http://schemas.microsoft.com/office/powerpoint/2010/main" val="2074015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3D17B11-CCD8-4EEC-AD7E-F410C1454966}" type="datetimeFigureOut">
              <a:rPr lang="zh-CN" altLang="en-US" smtClean="0"/>
              <a:t>2023/5/10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CB688-378F-4534-BFFE-AF122467FDB7}" type="slidenum">
              <a:rPr lang="zh-CN" altLang="en-US" smtClean="0"/>
              <a:t>‹#›</a:t>
            </a:fld>
            <a:endParaRPr lang="zh-CN" altLang="en-US"/>
          </a:p>
        </p:txBody>
      </p:sp>
    </p:spTree>
    <p:extLst>
      <p:ext uri="{BB962C8B-B14F-4D97-AF65-F5344CB8AC3E}">
        <p14:creationId xmlns:p14="http://schemas.microsoft.com/office/powerpoint/2010/main" val="3407052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E3D17B11-CCD8-4EEC-AD7E-F410C1454966}" type="datetimeFigureOut">
              <a:rPr lang="zh-CN" altLang="en-US" smtClean="0"/>
              <a:t>2023/5/10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9CB688-378F-4534-BFFE-AF122467FDB7}" type="slidenum">
              <a:rPr lang="zh-CN" altLang="en-US" smtClean="0"/>
              <a:t>‹#›</a:t>
            </a:fld>
            <a:endParaRPr lang="zh-CN" altLang="en-US"/>
          </a:p>
        </p:txBody>
      </p:sp>
    </p:spTree>
    <p:extLst>
      <p:ext uri="{BB962C8B-B14F-4D97-AF65-F5344CB8AC3E}">
        <p14:creationId xmlns:p14="http://schemas.microsoft.com/office/powerpoint/2010/main" val="188702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E3D17B11-CCD8-4EEC-AD7E-F410C1454966}" type="datetimeFigureOut">
              <a:rPr lang="zh-CN" altLang="en-US" smtClean="0"/>
              <a:t>2023/5/10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79CB688-378F-4534-BFFE-AF122467FDB7}" type="slidenum">
              <a:rPr lang="zh-CN" altLang="en-US" smtClean="0"/>
              <a:t>‹#›</a:t>
            </a:fld>
            <a:endParaRPr lang="zh-CN" altLang="en-US"/>
          </a:p>
        </p:txBody>
      </p:sp>
    </p:spTree>
    <p:extLst>
      <p:ext uri="{BB962C8B-B14F-4D97-AF65-F5344CB8AC3E}">
        <p14:creationId xmlns:p14="http://schemas.microsoft.com/office/powerpoint/2010/main" val="4068082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3D17B11-CCD8-4EEC-AD7E-F410C1454966}" type="datetimeFigureOut">
              <a:rPr lang="zh-CN" altLang="en-US" smtClean="0"/>
              <a:t>2023/5/10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79CB688-378F-4534-BFFE-AF122467FDB7}" type="slidenum">
              <a:rPr lang="zh-CN" altLang="en-US" smtClean="0"/>
              <a:t>‹#›</a:t>
            </a:fld>
            <a:endParaRPr lang="zh-CN" altLang="en-US"/>
          </a:p>
        </p:txBody>
      </p:sp>
    </p:spTree>
    <p:extLst>
      <p:ext uri="{BB962C8B-B14F-4D97-AF65-F5344CB8AC3E}">
        <p14:creationId xmlns:p14="http://schemas.microsoft.com/office/powerpoint/2010/main" val="4187196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D17B11-CCD8-4EEC-AD7E-F410C1454966}" type="datetimeFigureOut">
              <a:rPr lang="zh-CN" altLang="en-US" smtClean="0"/>
              <a:t>2023/5/10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79CB688-378F-4534-BFFE-AF122467FDB7}" type="slidenum">
              <a:rPr lang="zh-CN" altLang="en-US" smtClean="0"/>
              <a:t>‹#›</a:t>
            </a:fld>
            <a:endParaRPr lang="zh-CN" altLang="en-US"/>
          </a:p>
        </p:txBody>
      </p:sp>
    </p:spTree>
    <p:extLst>
      <p:ext uri="{BB962C8B-B14F-4D97-AF65-F5344CB8AC3E}">
        <p14:creationId xmlns:p14="http://schemas.microsoft.com/office/powerpoint/2010/main" val="1200569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3D17B11-CCD8-4EEC-AD7E-F410C1454966}" type="datetimeFigureOut">
              <a:rPr lang="zh-CN" altLang="en-US" smtClean="0"/>
              <a:t>2023/5/10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9CB688-378F-4534-BFFE-AF122467FDB7}" type="slidenum">
              <a:rPr lang="zh-CN" altLang="en-US" smtClean="0"/>
              <a:t>‹#›</a:t>
            </a:fld>
            <a:endParaRPr lang="zh-CN" altLang="en-US"/>
          </a:p>
        </p:txBody>
      </p:sp>
    </p:spTree>
    <p:extLst>
      <p:ext uri="{BB962C8B-B14F-4D97-AF65-F5344CB8AC3E}">
        <p14:creationId xmlns:p14="http://schemas.microsoft.com/office/powerpoint/2010/main" val="3153261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3D17B11-CCD8-4EEC-AD7E-F410C1454966}" type="datetimeFigureOut">
              <a:rPr lang="zh-CN" altLang="en-US" smtClean="0"/>
              <a:t>2023/5/10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9CB688-378F-4534-BFFE-AF122467FDB7}" type="slidenum">
              <a:rPr lang="zh-CN" altLang="en-US" smtClean="0"/>
              <a:t>‹#›</a:t>
            </a:fld>
            <a:endParaRPr lang="zh-CN" altLang="en-US"/>
          </a:p>
        </p:txBody>
      </p:sp>
    </p:spTree>
    <p:extLst>
      <p:ext uri="{BB962C8B-B14F-4D97-AF65-F5344CB8AC3E}">
        <p14:creationId xmlns:p14="http://schemas.microsoft.com/office/powerpoint/2010/main" val="23900417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3D17B11-CCD8-4EEC-AD7E-F410C1454966}" type="datetimeFigureOut">
              <a:rPr lang="zh-CN" altLang="en-US" smtClean="0"/>
              <a:t>2023/5/10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CB688-378F-4534-BFFE-AF122467FDB7}" type="slidenum">
              <a:rPr lang="zh-CN" altLang="en-US" smtClean="0"/>
              <a:t>‹#›</a:t>
            </a:fld>
            <a:endParaRPr lang="zh-CN" altLang="en-US"/>
          </a:p>
        </p:txBody>
      </p:sp>
    </p:spTree>
    <p:extLst>
      <p:ext uri="{BB962C8B-B14F-4D97-AF65-F5344CB8AC3E}">
        <p14:creationId xmlns:p14="http://schemas.microsoft.com/office/powerpoint/2010/main" val="2577302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3D17B11-CCD8-4EEC-AD7E-F410C1454966}" type="datetimeFigureOut">
              <a:rPr lang="zh-CN" altLang="en-US" smtClean="0"/>
              <a:t>2023/5/10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CB688-378F-4534-BFFE-AF122467FDB7}" type="slidenum">
              <a:rPr lang="zh-CN" altLang="en-US" smtClean="0"/>
              <a:t>‹#›</a:t>
            </a:fld>
            <a:endParaRPr lang="zh-CN" altLang="en-US"/>
          </a:p>
        </p:txBody>
      </p:sp>
    </p:spTree>
    <p:extLst>
      <p:ext uri="{BB962C8B-B14F-4D97-AF65-F5344CB8AC3E}">
        <p14:creationId xmlns:p14="http://schemas.microsoft.com/office/powerpoint/2010/main" val="72881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D17B11-CCD8-4EEC-AD7E-F410C1454966}" type="datetimeFigureOut">
              <a:rPr lang="zh-CN" altLang="en-US" smtClean="0"/>
              <a:t>2023/5/10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9CB688-378F-4534-BFFE-AF122467FDB7}" type="slidenum">
              <a:rPr lang="zh-CN" altLang="en-US" smtClean="0"/>
              <a:t>‹#›</a:t>
            </a:fld>
            <a:endParaRPr lang="zh-CN" altLang="en-US"/>
          </a:p>
        </p:txBody>
      </p:sp>
    </p:spTree>
    <p:extLst>
      <p:ext uri="{BB962C8B-B14F-4D97-AF65-F5344CB8AC3E}">
        <p14:creationId xmlns:p14="http://schemas.microsoft.com/office/powerpoint/2010/main" val="25631461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1BEC379-8EA6-01AE-7BAD-CD847184F1EC}"/>
              </a:ext>
            </a:extLst>
          </p:cNvPr>
          <p:cNvSpPr txBox="1"/>
          <p:nvPr/>
        </p:nvSpPr>
        <p:spPr>
          <a:xfrm>
            <a:off x="643466" y="417689"/>
            <a:ext cx="10555111" cy="28315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sz="3200">
                <a:ea typeface="+mn-lt"/>
                <a:cs typeface="+mn-lt"/>
              </a:rPr>
              <a:t>Each new GPU generation incorporates features that expand their ability to tackle larger and more complex computational prob- lems. The architectural resources available to GPU programs also </a:t>
            </a:r>
            <a:r>
              <a:rPr lang="en-US" altLang="zh-CN" sz="3200" dirty="0">
                <a:ea typeface="+mn-lt"/>
                <a:cs typeface="+mn-lt"/>
              </a:rPr>
              <a:t>increase</a:t>
            </a:r>
            <a:r>
              <a:rPr lang="zh-CN" sz="3200" dirty="0">
                <a:ea typeface="+mn-lt"/>
                <a:cs typeface="+mn-lt"/>
              </a:rPr>
              <a:t> </a:t>
            </a:r>
            <a:r>
              <a:rPr lang="en-US" altLang="zh-CN" sz="3200" dirty="0">
                <a:ea typeface="+mn-lt"/>
                <a:cs typeface="+mn-lt"/>
              </a:rPr>
              <a:t>with</a:t>
            </a:r>
            <a:r>
              <a:rPr lang="zh-CN" sz="3200" dirty="0">
                <a:ea typeface="+mn-lt"/>
                <a:cs typeface="+mn-lt"/>
              </a:rPr>
              <a:t> </a:t>
            </a:r>
            <a:r>
              <a:rPr lang="en-US" altLang="zh-CN" sz="3200" dirty="0">
                <a:ea typeface="+mn-lt"/>
                <a:cs typeface="+mn-lt"/>
              </a:rPr>
              <a:t>each</a:t>
            </a:r>
            <a:r>
              <a:rPr lang="zh-CN" sz="3200" dirty="0">
                <a:ea typeface="+mn-lt"/>
                <a:cs typeface="+mn-lt"/>
              </a:rPr>
              <a:t> </a:t>
            </a:r>
            <a:r>
              <a:rPr lang="en-US" altLang="zh-CN" sz="3200" dirty="0">
                <a:ea typeface="+mn-lt"/>
                <a:cs typeface="+mn-lt"/>
              </a:rPr>
              <a:t>new</a:t>
            </a:r>
            <a:r>
              <a:rPr lang="zh-CN" sz="3200" dirty="0">
                <a:ea typeface="+mn-lt"/>
                <a:cs typeface="+mn-lt"/>
              </a:rPr>
              <a:t> </a:t>
            </a:r>
            <a:r>
              <a:rPr lang="en-US" altLang="zh-CN" sz="3200" dirty="0">
                <a:ea typeface="+mn-lt"/>
                <a:cs typeface="+mn-lt"/>
              </a:rPr>
              <a:t>GPU</a:t>
            </a:r>
            <a:r>
              <a:rPr lang="zh-CN" sz="3200" dirty="0">
                <a:ea typeface="+mn-lt"/>
                <a:cs typeface="+mn-lt"/>
              </a:rPr>
              <a:t> </a:t>
            </a:r>
            <a:r>
              <a:rPr lang="en-US" altLang="zh-CN" sz="3200" dirty="0">
                <a:ea typeface="+mn-lt"/>
                <a:cs typeface="+mn-lt"/>
              </a:rPr>
              <a:t>generation.</a:t>
            </a:r>
            <a:endParaRPr lang="zh-CN" altLang="en-US" sz="3200" dirty="0">
              <a:ea typeface="+mn-lt"/>
              <a:cs typeface="+mn-lt"/>
            </a:endParaRPr>
          </a:p>
          <a:p>
            <a:endParaRPr lang="zh-CN" sz="3200" dirty="0">
              <a:ea typeface="宋体"/>
              <a:cs typeface="Calibri"/>
            </a:endParaRPr>
          </a:p>
          <a:p>
            <a:pPr algn="l"/>
            <a:endParaRPr lang="zh-CN" altLang="en-US" dirty="0">
              <a:ea typeface="宋体"/>
              <a:cs typeface="Calibri"/>
            </a:endParaRPr>
          </a:p>
        </p:txBody>
      </p:sp>
      <p:pic>
        <p:nvPicPr>
          <p:cNvPr id="5" name="图片 5" descr="表格&#10;&#10;已自动生成说明">
            <a:extLst>
              <a:ext uri="{FF2B5EF4-FFF2-40B4-BE49-F238E27FC236}">
                <a16:creationId xmlns:a16="http://schemas.microsoft.com/office/drawing/2014/main" id="{00C56262-D883-4A29-A343-3F837F686138}"/>
              </a:ext>
            </a:extLst>
          </p:cNvPr>
          <p:cNvPicPr>
            <a:picLocks noChangeAspect="1"/>
          </p:cNvPicPr>
          <p:nvPr/>
        </p:nvPicPr>
        <p:blipFill>
          <a:blip r:embed="rId2"/>
          <a:stretch>
            <a:fillRect/>
          </a:stretch>
        </p:blipFill>
        <p:spPr>
          <a:xfrm>
            <a:off x="1562910" y="2656748"/>
            <a:ext cx="8563582" cy="3700802"/>
          </a:xfrm>
          <a:prstGeom prst="rect">
            <a:avLst/>
          </a:prstGeom>
        </p:spPr>
      </p:pic>
    </p:spTree>
    <p:extLst>
      <p:ext uri="{BB962C8B-B14F-4D97-AF65-F5344CB8AC3E}">
        <p14:creationId xmlns:p14="http://schemas.microsoft.com/office/powerpoint/2010/main" val="703088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1BEC379-8EA6-01AE-7BAD-CD847184F1EC}"/>
              </a:ext>
            </a:extLst>
          </p:cNvPr>
          <p:cNvSpPr txBox="1"/>
          <p:nvPr/>
        </p:nvSpPr>
        <p:spPr>
          <a:xfrm>
            <a:off x="643466" y="417689"/>
            <a:ext cx="10555111" cy="28315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ea typeface="+mn-lt"/>
                <a:cs typeface="+mn-lt"/>
              </a:rPr>
              <a:t>GPU programming models like CUDA and OpenCL have been designed to allow older programs to take advantage of these increased resources without any programmer intervention.</a:t>
            </a:r>
            <a:endParaRPr lang="zh-CN" altLang="en-US" dirty="0">
              <a:ea typeface="+mn-lt"/>
              <a:cs typeface="+mn-lt"/>
            </a:endParaRPr>
          </a:p>
          <a:p>
            <a:endParaRPr lang="en-US" altLang="zh-CN" sz="3200" dirty="0">
              <a:ea typeface="+mn-lt"/>
              <a:cs typeface="+mn-lt"/>
            </a:endParaRPr>
          </a:p>
          <a:p>
            <a:endParaRPr lang="zh-CN" sz="3200" dirty="0">
              <a:ea typeface="宋体"/>
              <a:cs typeface="Calibri"/>
            </a:endParaRPr>
          </a:p>
          <a:p>
            <a:pPr algn="l"/>
            <a:endParaRPr lang="zh-CN" altLang="en-US" dirty="0">
              <a:ea typeface="宋体"/>
              <a:cs typeface="Calibri"/>
            </a:endParaRPr>
          </a:p>
        </p:txBody>
      </p:sp>
      <p:pic>
        <p:nvPicPr>
          <p:cNvPr id="5" name="图片 5" descr="表格&#10;&#10;已自动生成说明">
            <a:extLst>
              <a:ext uri="{FF2B5EF4-FFF2-40B4-BE49-F238E27FC236}">
                <a16:creationId xmlns:a16="http://schemas.microsoft.com/office/drawing/2014/main" id="{00C56262-D883-4A29-A343-3F837F686138}"/>
              </a:ext>
            </a:extLst>
          </p:cNvPr>
          <p:cNvPicPr>
            <a:picLocks noChangeAspect="1"/>
          </p:cNvPicPr>
          <p:nvPr/>
        </p:nvPicPr>
        <p:blipFill>
          <a:blip r:embed="rId2"/>
          <a:stretch>
            <a:fillRect/>
          </a:stretch>
        </p:blipFill>
        <p:spPr>
          <a:xfrm>
            <a:off x="1562910" y="2656748"/>
            <a:ext cx="8563582" cy="3700802"/>
          </a:xfrm>
          <a:prstGeom prst="rect">
            <a:avLst/>
          </a:prstGeom>
        </p:spPr>
      </p:pic>
    </p:spTree>
    <p:extLst>
      <p:ext uri="{BB962C8B-B14F-4D97-AF65-F5344CB8AC3E}">
        <p14:creationId xmlns:p14="http://schemas.microsoft.com/office/powerpoint/2010/main" val="4092873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1BEC379-8EA6-01AE-7BAD-CD847184F1EC}"/>
              </a:ext>
            </a:extLst>
          </p:cNvPr>
          <p:cNvSpPr txBox="1"/>
          <p:nvPr/>
        </p:nvSpPr>
        <p:spPr>
          <a:xfrm>
            <a:off x="643466" y="417689"/>
            <a:ext cx="10555111" cy="52937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ea typeface="+mn-lt"/>
                <a:cs typeface="+mn-lt"/>
              </a:rPr>
              <a:t>They find that the </a:t>
            </a:r>
            <a:r>
              <a:rPr lang="en-US" sz="3200" i="1" dirty="0">
                <a:ea typeface="+mn-lt"/>
                <a:cs typeface="+mn-lt"/>
              </a:rPr>
              <a:t>grid</a:t>
            </a:r>
            <a:r>
              <a:rPr lang="en-US" sz="3200" dirty="0">
                <a:ea typeface="+mn-lt"/>
                <a:cs typeface="+mn-lt"/>
              </a:rPr>
              <a:t>, a GPU programming construct that was designed to achieve scalability, also leads to under-utilization of those same resources. Figure 1 illustrates how resource allocation at the thread block level leads to wastage. </a:t>
            </a:r>
            <a:endParaRPr lang="zh-CN" altLang="en-US"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宋体"/>
              <a:cs typeface="Calibri"/>
            </a:endParaRPr>
          </a:p>
          <a:p>
            <a:pPr algn="l"/>
            <a:endParaRPr lang="en-US" altLang="zh-CN" sz="3200" dirty="0">
              <a:ea typeface="宋体"/>
              <a:cs typeface="Calibri"/>
            </a:endParaRPr>
          </a:p>
          <a:p>
            <a:endParaRPr lang="zh-CN" sz="3200" dirty="0">
              <a:ea typeface="宋体"/>
              <a:cs typeface="Calibri"/>
            </a:endParaRPr>
          </a:p>
          <a:p>
            <a:endParaRPr lang="zh-CN" altLang="en-US" dirty="0">
              <a:ea typeface="宋体"/>
              <a:cs typeface="Calibri"/>
            </a:endParaRPr>
          </a:p>
        </p:txBody>
      </p:sp>
      <p:pic>
        <p:nvPicPr>
          <p:cNvPr id="2" name="图片 2" descr="图示&#10;&#10;已自动生成说明">
            <a:extLst>
              <a:ext uri="{FF2B5EF4-FFF2-40B4-BE49-F238E27FC236}">
                <a16:creationId xmlns:a16="http://schemas.microsoft.com/office/drawing/2014/main" id="{763C1A2C-323E-0B23-4BB5-AE8B1D634866}"/>
              </a:ext>
            </a:extLst>
          </p:cNvPr>
          <p:cNvPicPr>
            <a:picLocks noChangeAspect="1"/>
          </p:cNvPicPr>
          <p:nvPr/>
        </p:nvPicPr>
        <p:blipFill>
          <a:blip r:embed="rId2"/>
          <a:stretch>
            <a:fillRect/>
          </a:stretch>
        </p:blipFill>
        <p:spPr>
          <a:xfrm>
            <a:off x="2811294" y="2488368"/>
            <a:ext cx="5272392" cy="4005137"/>
          </a:xfrm>
          <a:prstGeom prst="rect">
            <a:avLst/>
          </a:prstGeom>
        </p:spPr>
      </p:pic>
    </p:spTree>
    <p:extLst>
      <p:ext uri="{BB962C8B-B14F-4D97-AF65-F5344CB8AC3E}">
        <p14:creationId xmlns:p14="http://schemas.microsoft.com/office/powerpoint/2010/main" val="2580263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1BEC379-8EA6-01AE-7BAD-CD847184F1EC}"/>
              </a:ext>
            </a:extLst>
          </p:cNvPr>
          <p:cNvSpPr txBox="1"/>
          <p:nvPr/>
        </p:nvSpPr>
        <p:spPr>
          <a:xfrm>
            <a:off x="643466" y="417689"/>
            <a:ext cx="10555111"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ea typeface="+mn-lt"/>
                <a:cs typeface="+mn-lt"/>
              </a:rPr>
              <a:t>The unused resources obviously cannot accommodate another thread block from the same grid and are therefore wasted.</a:t>
            </a:r>
            <a:endParaRPr lang="zh-CN" altLang="en-US"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宋体"/>
              <a:cs typeface="Calibri"/>
            </a:endParaRPr>
          </a:p>
          <a:p>
            <a:pPr algn="l"/>
            <a:endParaRPr lang="en-US" altLang="zh-CN" sz="3200" dirty="0">
              <a:ea typeface="宋体"/>
              <a:cs typeface="Calibri"/>
            </a:endParaRPr>
          </a:p>
          <a:p>
            <a:endParaRPr lang="zh-CN" sz="3200" dirty="0">
              <a:ea typeface="宋体"/>
              <a:cs typeface="Calibri"/>
            </a:endParaRPr>
          </a:p>
          <a:p>
            <a:endParaRPr lang="zh-CN" altLang="en-US" dirty="0">
              <a:ea typeface="宋体"/>
              <a:cs typeface="Calibri"/>
            </a:endParaRPr>
          </a:p>
        </p:txBody>
      </p:sp>
      <p:pic>
        <p:nvPicPr>
          <p:cNvPr id="2" name="图片 2" descr="图示&#10;&#10;已自动生成说明">
            <a:extLst>
              <a:ext uri="{FF2B5EF4-FFF2-40B4-BE49-F238E27FC236}">
                <a16:creationId xmlns:a16="http://schemas.microsoft.com/office/drawing/2014/main" id="{763C1A2C-323E-0B23-4BB5-AE8B1D634866}"/>
              </a:ext>
            </a:extLst>
          </p:cNvPr>
          <p:cNvPicPr>
            <a:picLocks noChangeAspect="1"/>
          </p:cNvPicPr>
          <p:nvPr/>
        </p:nvPicPr>
        <p:blipFill>
          <a:blip r:embed="rId2"/>
          <a:stretch>
            <a:fillRect/>
          </a:stretch>
        </p:blipFill>
        <p:spPr>
          <a:xfrm>
            <a:off x="2827506" y="2131688"/>
            <a:ext cx="5272392" cy="4005137"/>
          </a:xfrm>
          <a:prstGeom prst="rect">
            <a:avLst/>
          </a:prstGeom>
        </p:spPr>
      </p:pic>
    </p:spTree>
    <p:extLst>
      <p:ext uri="{BB962C8B-B14F-4D97-AF65-F5344CB8AC3E}">
        <p14:creationId xmlns:p14="http://schemas.microsoft.com/office/powerpoint/2010/main" val="3135741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1BEC379-8EA6-01AE-7BAD-CD847184F1EC}"/>
              </a:ext>
            </a:extLst>
          </p:cNvPr>
          <p:cNvSpPr txBox="1"/>
          <p:nvPr/>
        </p:nvSpPr>
        <p:spPr>
          <a:xfrm>
            <a:off x="643466" y="417689"/>
            <a:ext cx="10555111" cy="43088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ltLang="zh-CN"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宋体"/>
              <a:cs typeface="Calibri"/>
            </a:endParaRPr>
          </a:p>
          <a:p>
            <a:pPr algn="l"/>
            <a:endParaRPr lang="en-US" altLang="zh-CN" sz="3200" dirty="0">
              <a:ea typeface="宋体"/>
              <a:cs typeface="Calibri"/>
            </a:endParaRPr>
          </a:p>
          <a:p>
            <a:endParaRPr lang="zh-CN" sz="3200" dirty="0">
              <a:ea typeface="宋体"/>
              <a:cs typeface="Calibri"/>
            </a:endParaRPr>
          </a:p>
          <a:p>
            <a:endParaRPr lang="zh-CN" altLang="en-US" dirty="0">
              <a:ea typeface="宋体"/>
              <a:cs typeface="Calibri"/>
            </a:endParaRPr>
          </a:p>
        </p:txBody>
      </p:sp>
      <p:pic>
        <p:nvPicPr>
          <p:cNvPr id="3" name="图片 4" descr="手机屏幕截图&#10;&#10;已自动生成说明">
            <a:extLst>
              <a:ext uri="{FF2B5EF4-FFF2-40B4-BE49-F238E27FC236}">
                <a16:creationId xmlns:a16="http://schemas.microsoft.com/office/drawing/2014/main" id="{6BDC5B3B-5EDC-9F32-A9CF-FA2A23C01513}"/>
              </a:ext>
            </a:extLst>
          </p:cNvPr>
          <p:cNvPicPr>
            <a:picLocks noChangeAspect="1"/>
          </p:cNvPicPr>
          <p:nvPr/>
        </p:nvPicPr>
        <p:blipFill>
          <a:blip r:embed="rId2"/>
          <a:stretch>
            <a:fillRect/>
          </a:stretch>
        </p:blipFill>
        <p:spPr>
          <a:xfrm>
            <a:off x="1924280" y="103600"/>
            <a:ext cx="7234135" cy="6306325"/>
          </a:xfrm>
          <a:prstGeom prst="rect">
            <a:avLst/>
          </a:prstGeom>
        </p:spPr>
      </p:pic>
    </p:spTree>
    <p:extLst>
      <p:ext uri="{BB962C8B-B14F-4D97-AF65-F5344CB8AC3E}">
        <p14:creationId xmlns:p14="http://schemas.microsoft.com/office/powerpoint/2010/main" val="1074546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1BEC379-8EA6-01AE-7BAD-CD847184F1EC}"/>
              </a:ext>
            </a:extLst>
          </p:cNvPr>
          <p:cNvSpPr txBox="1"/>
          <p:nvPr/>
        </p:nvSpPr>
        <p:spPr>
          <a:xfrm>
            <a:off x="643466" y="417689"/>
            <a:ext cx="10555111" cy="87408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ea typeface="+mn-lt"/>
                <a:cs typeface="+mn-lt"/>
              </a:rPr>
              <a:t>Since these wasted resources cannot be utilized by thread blocks from the same grid, the Fermi GPU supports concurrent </a:t>
            </a:r>
            <a:r>
              <a:rPr lang="en-US" sz="3200">
                <a:ea typeface="+mn-lt"/>
                <a:cs typeface="+mn-lt"/>
              </a:rPr>
              <a:t>execution</a:t>
            </a:r>
            <a:r>
              <a:rPr lang="en-US" sz="3200" dirty="0">
                <a:ea typeface="+mn-lt"/>
                <a:cs typeface="+mn-lt"/>
              </a:rPr>
              <a:t> of up to 16 grids.</a:t>
            </a:r>
            <a:endParaRPr lang="zh-CN" dirty="0">
              <a:ea typeface="+mn-lt"/>
              <a:cs typeface="+mn-lt"/>
            </a:endParaRPr>
          </a:p>
          <a:p>
            <a:endParaRPr lang="en-US" altLang="zh-CN" sz="3200" dirty="0">
              <a:ea typeface="+mn-lt"/>
              <a:cs typeface="+mn-lt"/>
            </a:endParaRPr>
          </a:p>
          <a:p>
            <a:r>
              <a:rPr lang="en-US" sz="3200" dirty="0">
                <a:ea typeface="+mn-lt"/>
                <a:cs typeface="+mn-lt"/>
              </a:rPr>
              <a:t>None of the programs in the Parboil2 or </a:t>
            </a:r>
            <a:r>
              <a:rPr lang="en-US" sz="3200" dirty="0" err="1">
                <a:ea typeface="+mn-lt"/>
                <a:cs typeface="+mn-lt"/>
              </a:rPr>
              <a:t>Rodinia</a:t>
            </a:r>
            <a:r>
              <a:rPr lang="en-US" sz="3200" dirty="0">
                <a:ea typeface="+mn-lt"/>
                <a:cs typeface="+mn-lt"/>
              </a:rPr>
              <a:t> 2 benchmarks currently executes multiple grids in parallel; support for GPU concurrency is relatively new. So, in this work, we use </a:t>
            </a:r>
            <a:r>
              <a:rPr lang="en-US" sz="3200" dirty="0" err="1">
                <a:ea typeface="+mn-lt"/>
                <a:cs typeface="+mn-lt"/>
              </a:rPr>
              <a:t>multiprogrammed</a:t>
            </a:r>
            <a:r>
              <a:rPr lang="en-US" sz="3200" dirty="0">
                <a:ea typeface="+mn-lt"/>
                <a:cs typeface="+mn-lt"/>
              </a:rPr>
              <a:t> workloads which are a convenient source of independent grids. </a:t>
            </a:r>
            <a:endParaRPr lang="en-US" dirty="0">
              <a:ea typeface="+mn-lt"/>
              <a:cs typeface="+mn-lt"/>
            </a:endParaRPr>
          </a:p>
          <a:p>
            <a:endParaRPr lang="en-US" altLang="zh-CN"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宋体"/>
              <a:cs typeface="Calibri"/>
            </a:endParaRPr>
          </a:p>
          <a:p>
            <a:pPr algn="l"/>
            <a:endParaRPr lang="en-US" sz="3200" dirty="0">
              <a:ea typeface="宋体"/>
              <a:cs typeface="Calibri"/>
            </a:endParaRPr>
          </a:p>
          <a:p>
            <a:endParaRPr lang="en-US" altLang="zh-CN" sz="3200" dirty="0">
              <a:ea typeface="宋体"/>
              <a:cs typeface="Calibri"/>
            </a:endParaRPr>
          </a:p>
          <a:p>
            <a:endParaRPr lang="zh-CN" sz="3200" dirty="0">
              <a:ea typeface="宋体"/>
              <a:cs typeface="Calibri"/>
            </a:endParaRPr>
          </a:p>
          <a:p>
            <a:endParaRPr lang="zh-CN" altLang="en-US" dirty="0">
              <a:ea typeface="宋体"/>
              <a:cs typeface="Calibri"/>
            </a:endParaRPr>
          </a:p>
        </p:txBody>
      </p:sp>
    </p:spTree>
    <p:extLst>
      <p:ext uri="{BB962C8B-B14F-4D97-AF65-F5344CB8AC3E}">
        <p14:creationId xmlns:p14="http://schemas.microsoft.com/office/powerpoint/2010/main" val="2085846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1BEC379-8EA6-01AE-7BAD-CD847184F1EC}"/>
              </a:ext>
            </a:extLst>
          </p:cNvPr>
          <p:cNvSpPr txBox="1"/>
          <p:nvPr/>
        </p:nvSpPr>
        <p:spPr>
          <a:xfrm>
            <a:off x="643466" y="417689"/>
            <a:ext cx="10555111" cy="92332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ea typeface="+mn-lt"/>
                <a:cs typeface="+mn-lt"/>
              </a:rPr>
              <a:t>Our experiments using microbenchmarks of concurrently executing synthetic kernels suggest that the Fermi uses the LEFTOVER policy. Under this policy, a grid begins concurrent execution only if there are enough resources to allow execution of at least one of its thread blocks. </a:t>
            </a:r>
            <a:endParaRPr lang="zh-CN" dirty="0">
              <a:ea typeface="+mn-lt"/>
              <a:cs typeface="+mn-lt"/>
            </a:endParaRPr>
          </a:p>
          <a:p>
            <a:endParaRPr lang="en-US" sz="3200" dirty="0">
              <a:ea typeface="+mn-lt"/>
              <a:cs typeface="+mn-lt"/>
            </a:endParaRPr>
          </a:p>
          <a:p>
            <a:r>
              <a:rPr lang="en-US" sz="3200" dirty="0">
                <a:ea typeface="+mn-lt"/>
                <a:cs typeface="+mn-lt"/>
              </a:rPr>
              <a:t>for concurrent execution under this policy, the programmer must ensure that each inde- pendent grid will not consume too many resources.</a:t>
            </a:r>
            <a:endParaRPr lang="en-US" dirty="0">
              <a:ea typeface="+mn-lt"/>
              <a:cs typeface="+mn-lt"/>
            </a:endParaRPr>
          </a:p>
          <a:p>
            <a:endParaRPr lang="en-US" sz="3200" dirty="0">
              <a:ea typeface="+mn-lt"/>
              <a:cs typeface="+mn-lt"/>
            </a:endParaRPr>
          </a:p>
          <a:p>
            <a:endParaRPr lang="en-US" altLang="zh-CN"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宋体"/>
              <a:cs typeface="Calibri"/>
            </a:endParaRPr>
          </a:p>
          <a:p>
            <a:pPr algn="l"/>
            <a:endParaRPr lang="en-US" sz="3200" dirty="0">
              <a:ea typeface="宋体"/>
              <a:cs typeface="Calibri"/>
            </a:endParaRPr>
          </a:p>
          <a:p>
            <a:endParaRPr lang="en-US" sz="3200" dirty="0">
              <a:ea typeface="宋体"/>
              <a:cs typeface="Calibri"/>
            </a:endParaRPr>
          </a:p>
          <a:p>
            <a:endParaRPr lang="en-US" altLang="zh-CN" sz="3200" dirty="0">
              <a:ea typeface="宋体"/>
              <a:cs typeface="Calibri"/>
            </a:endParaRPr>
          </a:p>
          <a:p>
            <a:endParaRPr lang="zh-CN" sz="3200" dirty="0">
              <a:ea typeface="宋体"/>
              <a:cs typeface="Calibri"/>
            </a:endParaRPr>
          </a:p>
          <a:p>
            <a:endParaRPr lang="zh-CN" altLang="en-US" dirty="0">
              <a:ea typeface="宋体"/>
              <a:cs typeface="Calibri"/>
            </a:endParaRPr>
          </a:p>
        </p:txBody>
      </p:sp>
    </p:spTree>
    <p:extLst>
      <p:ext uri="{BB962C8B-B14F-4D97-AF65-F5344CB8AC3E}">
        <p14:creationId xmlns:p14="http://schemas.microsoft.com/office/powerpoint/2010/main" val="60587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1BEC379-8EA6-01AE-7BAD-CD847184F1EC}"/>
              </a:ext>
            </a:extLst>
          </p:cNvPr>
          <p:cNvSpPr txBox="1"/>
          <p:nvPr/>
        </p:nvSpPr>
        <p:spPr>
          <a:xfrm>
            <a:off x="643466" y="417689"/>
            <a:ext cx="10555111" cy="52937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3200" dirty="0">
              <a:ea typeface="+mn-lt"/>
              <a:cs typeface="+mn-lt"/>
            </a:endParaRPr>
          </a:p>
          <a:p>
            <a:endParaRPr lang="en-US" sz="3200" dirty="0">
              <a:ea typeface="+mn-lt"/>
              <a:cs typeface="+mn-lt"/>
            </a:endParaRPr>
          </a:p>
          <a:p>
            <a:endParaRPr lang="en-US" altLang="zh-CN"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宋体"/>
              <a:cs typeface="Calibri"/>
            </a:endParaRPr>
          </a:p>
          <a:p>
            <a:pPr algn="l"/>
            <a:endParaRPr lang="en-US" sz="3200" dirty="0">
              <a:ea typeface="宋体"/>
              <a:cs typeface="Calibri"/>
            </a:endParaRPr>
          </a:p>
          <a:p>
            <a:endParaRPr lang="en-US" sz="3200" dirty="0">
              <a:ea typeface="宋体"/>
              <a:cs typeface="Calibri"/>
            </a:endParaRPr>
          </a:p>
          <a:p>
            <a:endParaRPr lang="en-US" altLang="zh-CN" sz="3200" dirty="0">
              <a:ea typeface="宋体"/>
              <a:cs typeface="Calibri"/>
            </a:endParaRPr>
          </a:p>
          <a:p>
            <a:endParaRPr lang="zh-CN" sz="3200" dirty="0">
              <a:ea typeface="宋体"/>
              <a:cs typeface="Calibri"/>
            </a:endParaRPr>
          </a:p>
          <a:p>
            <a:endParaRPr lang="zh-CN" altLang="en-US" dirty="0">
              <a:ea typeface="宋体"/>
              <a:cs typeface="Calibri"/>
            </a:endParaRPr>
          </a:p>
        </p:txBody>
      </p:sp>
      <p:pic>
        <p:nvPicPr>
          <p:cNvPr id="2" name="图片 2" descr="图示, 工程绘图&#10;&#10;已自动生成说明">
            <a:extLst>
              <a:ext uri="{FF2B5EF4-FFF2-40B4-BE49-F238E27FC236}">
                <a16:creationId xmlns:a16="http://schemas.microsoft.com/office/drawing/2014/main" id="{E6623906-FEA2-2C38-B604-9B6D9675D13F}"/>
              </a:ext>
            </a:extLst>
          </p:cNvPr>
          <p:cNvPicPr>
            <a:picLocks noChangeAspect="1"/>
          </p:cNvPicPr>
          <p:nvPr/>
        </p:nvPicPr>
        <p:blipFill>
          <a:blip r:embed="rId2"/>
          <a:stretch>
            <a:fillRect/>
          </a:stretch>
        </p:blipFill>
        <p:spPr>
          <a:xfrm>
            <a:off x="2372768" y="273403"/>
            <a:ext cx="7623535" cy="6433277"/>
          </a:xfrm>
          <a:prstGeom prst="rect">
            <a:avLst/>
          </a:prstGeom>
        </p:spPr>
      </p:pic>
    </p:spTree>
    <p:extLst>
      <p:ext uri="{BB962C8B-B14F-4D97-AF65-F5344CB8AC3E}">
        <p14:creationId xmlns:p14="http://schemas.microsoft.com/office/powerpoint/2010/main" val="2080062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1BEC379-8EA6-01AE-7BAD-CD847184F1EC}"/>
              </a:ext>
            </a:extLst>
          </p:cNvPr>
          <p:cNvSpPr txBox="1"/>
          <p:nvPr/>
        </p:nvSpPr>
        <p:spPr>
          <a:xfrm>
            <a:off x="643466" y="417689"/>
            <a:ext cx="10555111" cy="92332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ea typeface="+mn-lt"/>
                <a:cs typeface="+mn-lt"/>
              </a:rPr>
              <a:t>Serialization due to Lack of Resources</a:t>
            </a:r>
            <a:endParaRPr lang="zh-CN" dirty="0">
              <a:ea typeface="+mn-lt"/>
              <a:cs typeface="+mn-lt"/>
            </a:endParaRPr>
          </a:p>
          <a:p>
            <a:endParaRPr lang="en-US" sz="3200" dirty="0">
              <a:ea typeface="+mn-lt"/>
              <a:cs typeface="+mn-lt"/>
            </a:endParaRPr>
          </a:p>
          <a:p>
            <a:r>
              <a:rPr lang="en-US" sz="3200" dirty="0">
                <a:ea typeface="+mn-lt"/>
                <a:cs typeface="+mn-lt"/>
              </a:rPr>
              <a:t>Under the current LEFTOVER policy, two grids cannot execute concurrently if the one scheduled first consumes too many resources to allow the other to begin execution. Since the resources consumed are specified by the programmer, the Thread Block Scheduler is forced to serialize the execution of such grids.</a:t>
            </a:r>
            <a:endParaRPr lang="en-US" dirty="0">
              <a:ea typeface="+mn-lt"/>
              <a:cs typeface="+mn-lt"/>
            </a:endParaRPr>
          </a:p>
          <a:p>
            <a:endParaRPr lang="en-US" sz="3200" dirty="0">
              <a:ea typeface="+mn-lt"/>
              <a:cs typeface="+mn-lt"/>
            </a:endParaRPr>
          </a:p>
          <a:p>
            <a:endParaRPr lang="en-US" sz="3200" dirty="0">
              <a:ea typeface="+mn-lt"/>
              <a:cs typeface="+mn-lt"/>
            </a:endParaRPr>
          </a:p>
          <a:p>
            <a:endParaRPr lang="en-US" altLang="zh-CN" sz="3200" dirty="0">
              <a:ea typeface="+mn-lt"/>
              <a:cs typeface="+mn-lt"/>
            </a:endParaRPr>
          </a:p>
          <a:p>
            <a:endParaRPr lang="en-US" sz="3200" dirty="0">
              <a:ea typeface="+mn-lt"/>
              <a:cs typeface="+mn-lt"/>
            </a:endParaRPr>
          </a:p>
          <a:p>
            <a:endParaRPr lang="en-US" sz="3200" dirty="0">
              <a:ea typeface="宋体"/>
              <a:cs typeface="Calibri"/>
            </a:endParaRPr>
          </a:p>
          <a:p>
            <a:pPr algn="l"/>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altLang="zh-CN" sz="3200" dirty="0">
              <a:ea typeface="宋体"/>
              <a:cs typeface="Calibri"/>
            </a:endParaRPr>
          </a:p>
          <a:p>
            <a:endParaRPr lang="zh-CN" sz="3200" dirty="0">
              <a:ea typeface="宋体"/>
              <a:cs typeface="Calibri"/>
            </a:endParaRPr>
          </a:p>
          <a:p>
            <a:endParaRPr lang="zh-CN" altLang="en-US" dirty="0">
              <a:ea typeface="宋体"/>
              <a:cs typeface="Calibri"/>
            </a:endParaRPr>
          </a:p>
        </p:txBody>
      </p:sp>
    </p:spTree>
    <p:extLst>
      <p:ext uri="{BB962C8B-B14F-4D97-AF65-F5344CB8AC3E}">
        <p14:creationId xmlns:p14="http://schemas.microsoft.com/office/powerpoint/2010/main" val="1572342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1BEC379-8EA6-01AE-7BAD-CD847184F1EC}"/>
              </a:ext>
            </a:extLst>
          </p:cNvPr>
          <p:cNvSpPr txBox="1"/>
          <p:nvPr/>
        </p:nvSpPr>
        <p:spPr>
          <a:xfrm>
            <a:off x="643466" y="417689"/>
            <a:ext cx="10555111" cy="62786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ea typeface="+mn-lt"/>
                <a:cs typeface="+mn-lt"/>
              </a:rPr>
              <a:t>Serialization due to Inter-stream Scheduling</a:t>
            </a:r>
            <a:endParaRPr lang="zh-CN"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altLang="zh-CN" sz="3200" dirty="0">
              <a:ea typeface="+mn-lt"/>
              <a:cs typeface="+mn-lt"/>
            </a:endParaRPr>
          </a:p>
          <a:p>
            <a:endParaRPr lang="en-US" sz="3200" dirty="0">
              <a:ea typeface="宋体"/>
              <a:cs typeface="Calibri"/>
            </a:endParaRPr>
          </a:p>
          <a:p>
            <a:pPr algn="l"/>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altLang="zh-CN" sz="3200" dirty="0">
              <a:ea typeface="宋体"/>
              <a:cs typeface="Calibri"/>
            </a:endParaRPr>
          </a:p>
          <a:p>
            <a:endParaRPr lang="zh-CN" sz="3200" dirty="0">
              <a:ea typeface="宋体"/>
              <a:cs typeface="Calibri"/>
            </a:endParaRPr>
          </a:p>
          <a:p>
            <a:endParaRPr lang="zh-CN" altLang="en-US" dirty="0">
              <a:ea typeface="宋体"/>
              <a:cs typeface="Calibri"/>
            </a:endParaRPr>
          </a:p>
        </p:txBody>
      </p:sp>
      <p:pic>
        <p:nvPicPr>
          <p:cNvPr id="2" name="图片 2" descr="图表, 瀑布图&#10;&#10;已自动生成说明">
            <a:extLst>
              <a:ext uri="{FF2B5EF4-FFF2-40B4-BE49-F238E27FC236}">
                <a16:creationId xmlns:a16="http://schemas.microsoft.com/office/drawing/2014/main" id="{EB0D1F31-31E8-AE84-738D-50358AA0639B}"/>
              </a:ext>
            </a:extLst>
          </p:cNvPr>
          <p:cNvPicPr>
            <a:picLocks noChangeAspect="1"/>
          </p:cNvPicPr>
          <p:nvPr/>
        </p:nvPicPr>
        <p:blipFill>
          <a:blip r:embed="rId2"/>
          <a:stretch>
            <a:fillRect/>
          </a:stretch>
        </p:blipFill>
        <p:spPr>
          <a:xfrm>
            <a:off x="1244906" y="1505761"/>
            <a:ext cx="8738211" cy="4360595"/>
          </a:xfrm>
          <a:prstGeom prst="rect">
            <a:avLst/>
          </a:prstGeom>
        </p:spPr>
      </p:pic>
    </p:spTree>
    <p:extLst>
      <p:ext uri="{BB962C8B-B14F-4D97-AF65-F5344CB8AC3E}">
        <p14:creationId xmlns:p14="http://schemas.microsoft.com/office/powerpoint/2010/main" val="4203530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1BEC379-8EA6-01AE-7BAD-CD847184F1EC}"/>
              </a:ext>
            </a:extLst>
          </p:cNvPr>
          <p:cNvSpPr txBox="1"/>
          <p:nvPr/>
        </p:nvSpPr>
        <p:spPr>
          <a:xfrm>
            <a:off x="643466" y="417689"/>
            <a:ext cx="10555111" cy="107106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ea typeface="+mn-lt"/>
                <a:cs typeface="+mn-lt"/>
              </a:rPr>
              <a:t>Serialization due to Kernel Execution</a:t>
            </a:r>
            <a:endParaRPr lang="zh-CN" dirty="0">
              <a:ea typeface="+mn-lt"/>
              <a:cs typeface="+mn-lt"/>
            </a:endParaRPr>
          </a:p>
          <a:p>
            <a:endParaRPr lang="en-US" sz="3200" dirty="0">
              <a:ea typeface="+mn-lt"/>
              <a:cs typeface="+mn-lt"/>
            </a:endParaRPr>
          </a:p>
          <a:p>
            <a:r>
              <a:rPr lang="en-US" sz="3200" dirty="0">
                <a:ea typeface="+mn-lt"/>
                <a:cs typeface="+mn-lt"/>
              </a:rPr>
              <a:t>A long-running grid can serialize the execution of grids from </a:t>
            </a:r>
            <a:r>
              <a:rPr lang="en-US" sz="3200" i="1" dirty="0">
                <a:ea typeface="+mn-lt"/>
                <a:cs typeface="+mn-lt"/>
              </a:rPr>
              <a:t>other </a:t>
            </a:r>
            <a:r>
              <a:rPr lang="en-US" sz="3200" dirty="0">
                <a:ea typeface="+mn-lt"/>
                <a:cs typeface="+mn-lt"/>
              </a:rPr>
              <a:t>programs if it consumes too many resources, </a:t>
            </a:r>
            <a:r>
              <a:rPr lang="en-US" sz="3200">
                <a:ea typeface="+mn-lt"/>
                <a:cs typeface="+mn-lt"/>
              </a:rPr>
              <a:t>preventing other grids from executing concurrently with it. Even if it allows concurrent execution, the resources it occupies will be unavailable to other kernels for the duration of its execution, possibly slowing them down.</a:t>
            </a:r>
            <a:endParaRPr lang="en-US">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宋体"/>
              <a:cs typeface="Calibri"/>
            </a:endParaRPr>
          </a:p>
          <a:p>
            <a:pPr algn="l"/>
            <a:endParaRPr lang="en-US" altLang="zh-CN"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altLang="zh-CN" sz="3200" dirty="0">
              <a:ea typeface="宋体"/>
              <a:cs typeface="Calibri"/>
            </a:endParaRPr>
          </a:p>
          <a:p>
            <a:endParaRPr lang="zh-CN" sz="3200" dirty="0">
              <a:ea typeface="宋体"/>
              <a:cs typeface="Calibri"/>
            </a:endParaRPr>
          </a:p>
          <a:p>
            <a:endParaRPr lang="zh-CN" altLang="en-US" dirty="0">
              <a:ea typeface="宋体"/>
              <a:cs typeface="Calibri"/>
            </a:endParaRPr>
          </a:p>
        </p:txBody>
      </p:sp>
    </p:spTree>
    <p:extLst>
      <p:ext uri="{BB962C8B-B14F-4D97-AF65-F5344CB8AC3E}">
        <p14:creationId xmlns:p14="http://schemas.microsoft.com/office/powerpoint/2010/main" val="2402216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1BEC379-8EA6-01AE-7BAD-CD847184F1EC}"/>
              </a:ext>
            </a:extLst>
          </p:cNvPr>
          <p:cNvSpPr txBox="1"/>
          <p:nvPr/>
        </p:nvSpPr>
        <p:spPr>
          <a:xfrm>
            <a:off x="643466" y="417689"/>
            <a:ext cx="10555111" cy="107106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ea typeface="+mn-lt"/>
                <a:cs typeface="+mn-lt"/>
              </a:rPr>
              <a:t>Serialization due to Memory Transfers</a:t>
            </a:r>
            <a:endParaRPr lang="zh-CN" dirty="0">
              <a:ea typeface="+mn-lt"/>
              <a:cs typeface="+mn-lt"/>
            </a:endParaRPr>
          </a:p>
          <a:p>
            <a:endParaRPr lang="en-US" sz="3200" dirty="0">
              <a:ea typeface="+mn-lt"/>
              <a:cs typeface="+mn-lt"/>
            </a:endParaRPr>
          </a:p>
          <a:p>
            <a:r>
              <a:rPr lang="en-US" sz="3200" dirty="0">
                <a:ea typeface="+mn-lt"/>
                <a:cs typeface="+mn-lt"/>
              </a:rPr>
              <a:t>since only one transfer can be active in a given direction, memory transfers can cause serialization similar to that caused by long-running grids. A large memory trans- fer in one program can stall progress in other concurrently executing programs as they wait for the DMA engine to become free.</a:t>
            </a:r>
            <a:endParaRPr lang="en-US"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宋体"/>
              <a:cs typeface="Calibri"/>
            </a:endParaRPr>
          </a:p>
          <a:p>
            <a:pPr algn="l"/>
            <a:endParaRPr lang="en-US" altLang="zh-CN"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altLang="zh-CN" sz="3200" dirty="0">
              <a:ea typeface="宋体"/>
              <a:cs typeface="Calibri"/>
            </a:endParaRPr>
          </a:p>
          <a:p>
            <a:endParaRPr lang="zh-CN" sz="3200" dirty="0">
              <a:ea typeface="宋体"/>
              <a:cs typeface="Calibri"/>
            </a:endParaRPr>
          </a:p>
          <a:p>
            <a:endParaRPr lang="zh-CN" altLang="en-US" dirty="0">
              <a:ea typeface="宋体"/>
              <a:cs typeface="Calibri"/>
            </a:endParaRPr>
          </a:p>
        </p:txBody>
      </p:sp>
    </p:spTree>
    <p:extLst>
      <p:ext uri="{BB962C8B-B14F-4D97-AF65-F5344CB8AC3E}">
        <p14:creationId xmlns:p14="http://schemas.microsoft.com/office/powerpoint/2010/main" val="22072347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1BEC379-8EA6-01AE-7BAD-CD847184F1EC}"/>
              </a:ext>
            </a:extLst>
          </p:cNvPr>
          <p:cNvSpPr txBox="1"/>
          <p:nvPr/>
        </p:nvSpPr>
        <p:spPr>
          <a:xfrm>
            <a:off x="643466" y="417689"/>
            <a:ext cx="10555111" cy="87408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ea typeface="+mn-lt"/>
                <a:cs typeface="+mn-lt"/>
              </a:rPr>
              <a:t>Serialization due to Memory Transfers</a:t>
            </a:r>
            <a:endParaRPr lang="zh-CN"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宋体"/>
              <a:cs typeface="Calibri"/>
            </a:endParaRPr>
          </a:p>
          <a:p>
            <a:pPr algn="l"/>
            <a:endParaRPr lang="en-US" altLang="zh-CN"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altLang="zh-CN" sz="3200" dirty="0">
              <a:ea typeface="宋体"/>
              <a:cs typeface="Calibri"/>
            </a:endParaRPr>
          </a:p>
          <a:p>
            <a:endParaRPr lang="zh-CN" sz="3200" dirty="0">
              <a:ea typeface="宋体"/>
              <a:cs typeface="Calibri"/>
            </a:endParaRPr>
          </a:p>
          <a:p>
            <a:endParaRPr lang="zh-CN" altLang="en-US" dirty="0">
              <a:ea typeface="宋体"/>
              <a:cs typeface="Calibri"/>
            </a:endParaRPr>
          </a:p>
        </p:txBody>
      </p:sp>
      <p:pic>
        <p:nvPicPr>
          <p:cNvPr id="2" name="图片 2" descr="图示&#10;&#10;已自动生成说明">
            <a:extLst>
              <a:ext uri="{FF2B5EF4-FFF2-40B4-BE49-F238E27FC236}">
                <a16:creationId xmlns:a16="http://schemas.microsoft.com/office/drawing/2014/main" id="{30DCEBD6-5692-6050-AD73-62BB3FB90355}"/>
              </a:ext>
            </a:extLst>
          </p:cNvPr>
          <p:cNvPicPr>
            <a:picLocks noChangeAspect="1"/>
          </p:cNvPicPr>
          <p:nvPr/>
        </p:nvPicPr>
        <p:blipFill>
          <a:blip r:embed="rId2"/>
          <a:stretch>
            <a:fillRect/>
          </a:stretch>
        </p:blipFill>
        <p:spPr>
          <a:xfrm>
            <a:off x="1180641" y="1166408"/>
            <a:ext cx="9279874" cy="4828148"/>
          </a:xfrm>
          <a:prstGeom prst="rect">
            <a:avLst/>
          </a:prstGeom>
        </p:spPr>
      </p:pic>
    </p:spTree>
    <p:extLst>
      <p:ext uri="{BB962C8B-B14F-4D97-AF65-F5344CB8AC3E}">
        <p14:creationId xmlns:p14="http://schemas.microsoft.com/office/powerpoint/2010/main" val="4985910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1BEC379-8EA6-01AE-7BAD-CD847184F1EC}"/>
              </a:ext>
            </a:extLst>
          </p:cNvPr>
          <p:cNvSpPr txBox="1"/>
          <p:nvPr/>
        </p:nvSpPr>
        <p:spPr>
          <a:xfrm>
            <a:off x="643466" y="417689"/>
            <a:ext cx="10555111" cy="116955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ea typeface="+mn-lt"/>
                <a:cs typeface="+mn-lt"/>
              </a:rPr>
              <a:t>Serialization in the CUDA API</a:t>
            </a:r>
            <a:endParaRPr lang="zh-CN" dirty="0">
              <a:ea typeface="+mn-lt"/>
              <a:cs typeface="+mn-lt"/>
            </a:endParaRPr>
          </a:p>
          <a:p>
            <a:endParaRPr lang="en-US" sz="3200" dirty="0">
              <a:ea typeface="+mn-lt"/>
              <a:cs typeface="+mn-lt"/>
            </a:endParaRPr>
          </a:p>
          <a:p>
            <a:r>
              <a:rPr lang="en-US" sz="3200" dirty="0">
                <a:ea typeface="+mn-lt"/>
                <a:cs typeface="+mn-lt"/>
              </a:rPr>
              <a:t>The CUDA API contains several functions that </a:t>
            </a:r>
            <a:r>
              <a:rPr lang="en-US" sz="3200" i="1" dirty="0">
                <a:ea typeface="+mn-lt"/>
                <a:cs typeface="+mn-lt"/>
              </a:rPr>
              <a:t>implicitly synchronize </a:t>
            </a:r>
            <a:r>
              <a:rPr lang="en-US" sz="3200" dirty="0">
                <a:ea typeface="+mn-lt"/>
                <a:cs typeface="+mn-lt"/>
              </a:rPr>
              <a:t>commands from different streams, they act as program-wide barriers for GPGPU functionality.</a:t>
            </a:r>
            <a:endParaRPr lang="en-US"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宋体"/>
              <a:cs typeface="Calibri"/>
            </a:endParaRPr>
          </a:p>
          <a:p>
            <a:pPr algn="l"/>
            <a:endParaRPr lang="en-US" sz="3200" dirty="0">
              <a:ea typeface="宋体"/>
              <a:cs typeface="Calibri"/>
            </a:endParaRPr>
          </a:p>
          <a:p>
            <a:endParaRPr lang="en-US" sz="3200" dirty="0">
              <a:ea typeface="宋体"/>
              <a:cs typeface="Calibri"/>
            </a:endParaRPr>
          </a:p>
          <a:p>
            <a:endParaRPr lang="en-US" altLang="zh-CN"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altLang="zh-CN" sz="3200" dirty="0">
              <a:ea typeface="宋体"/>
              <a:cs typeface="Calibri"/>
            </a:endParaRPr>
          </a:p>
          <a:p>
            <a:endParaRPr lang="zh-CN" sz="3200" dirty="0">
              <a:ea typeface="宋体"/>
              <a:cs typeface="Calibri"/>
            </a:endParaRPr>
          </a:p>
          <a:p>
            <a:endParaRPr lang="zh-CN" altLang="en-US" dirty="0">
              <a:ea typeface="宋体"/>
              <a:cs typeface="Calibri"/>
            </a:endParaRPr>
          </a:p>
        </p:txBody>
      </p:sp>
    </p:spTree>
    <p:extLst>
      <p:ext uri="{BB962C8B-B14F-4D97-AF65-F5344CB8AC3E}">
        <p14:creationId xmlns:p14="http://schemas.microsoft.com/office/powerpoint/2010/main" val="3855163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1BEC379-8EA6-01AE-7BAD-CD847184F1EC}"/>
              </a:ext>
            </a:extLst>
          </p:cNvPr>
          <p:cNvSpPr txBox="1"/>
          <p:nvPr/>
        </p:nvSpPr>
        <p:spPr>
          <a:xfrm>
            <a:off x="643466" y="417689"/>
            <a:ext cx="10555111" cy="161274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ea typeface="+mn-lt"/>
                <a:cs typeface="+mn-lt"/>
              </a:rPr>
              <a:t>Serialization in the Implementation</a:t>
            </a:r>
            <a:endParaRPr lang="zh-CN" dirty="0">
              <a:ea typeface="+mn-lt"/>
              <a:cs typeface="+mn-lt"/>
            </a:endParaRPr>
          </a:p>
          <a:p>
            <a:endParaRPr lang="en-US" sz="3200" dirty="0">
              <a:ea typeface="+mn-lt"/>
              <a:cs typeface="+mn-lt"/>
            </a:endParaRPr>
          </a:p>
          <a:p>
            <a:r>
              <a:rPr lang="en-US" sz="3200" dirty="0">
                <a:ea typeface="+mn-lt"/>
                <a:cs typeface="+mn-lt"/>
              </a:rPr>
              <a:t>To maintain ordering of commands in a single stream, the Fermi uses “signals” between the kernel and memory transfer hardware queues. These signals act as barriers and prevent Kernel–Memory Transfer, Memory Transfer– Kernel, Memory Transfer–Memory Transfer, and Kernel–Kernel dependencies (abbreviated as </a:t>
            </a:r>
            <a:r>
              <a:rPr lang="en-US" sz="3200" i="1" dirty="0">
                <a:ea typeface="+mn-lt"/>
                <a:cs typeface="+mn-lt"/>
              </a:rPr>
              <a:t>K–M</a:t>
            </a:r>
            <a:r>
              <a:rPr lang="en-US" sz="3200" dirty="0">
                <a:ea typeface="+mn-lt"/>
                <a:cs typeface="+mn-lt"/>
              </a:rPr>
              <a:t>, </a:t>
            </a:r>
            <a:r>
              <a:rPr lang="en-US" sz="3200" i="1" dirty="0">
                <a:ea typeface="+mn-lt"/>
                <a:cs typeface="+mn-lt"/>
              </a:rPr>
              <a:t>M–K</a:t>
            </a:r>
            <a:r>
              <a:rPr lang="en-US" sz="3200" dirty="0">
                <a:ea typeface="+mn-lt"/>
                <a:cs typeface="+mn-lt"/>
              </a:rPr>
              <a:t>, </a:t>
            </a:r>
            <a:r>
              <a:rPr lang="en-US" sz="3200" i="1" dirty="0">
                <a:ea typeface="+mn-lt"/>
                <a:cs typeface="+mn-lt"/>
              </a:rPr>
              <a:t>M–M </a:t>
            </a:r>
            <a:r>
              <a:rPr lang="en-US" sz="3200" dirty="0">
                <a:ea typeface="+mn-lt"/>
                <a:cs typeface="+mn-lt"/>
              </a:rPr>
              <a:t>and </a:t>
            </a:r>
            <a:r>
              <a:rPr lang="en-US" sz="3200" i="1" dirty="0">
                <a:ea typeface="+mn-lt"/>
                <a:cs typeface="+mn-lt"/>
              </a:rPr>
              <a:t>K–K </a:t>
            </a:r>
            <a:r>
              <a:rPr lang="en-US" sz="3200" dirty="0">
                <a:ea typeface="+mn-lt"/>
                <a:cs typeface="+mn-lt"/>
              </a:rPr>
              <a:t>respectively) from being violated in a stream.</a:t>
            </a:r>
            <a:endParaRPr lang="en-US">
              <a:ea typeface="+mn-lt"/>
              <a:cs typeface="+mn-lt"/>
            </a:endParaRPr>
          </a:p>
          <a:p>
            <a:endParaRPr lang="en-US" sz="3200" dirty="0">
              <a:ea typeface="+mn-lt"/>
              <a:cs typeface="+mn-lt"/>
            </a:endParaRPr>
          </a:p>
          <a:p>
            <a:r>
              <a:rPr lang="en-US" sz="3200" dirty="0">
                <a:ea typeface="+mn-lt"/>
                <a:cs typeface="+mn-lt"/>
              </a:rPr>
              <a:t>This </a:t>
            </a:r>
            <a:r>
              <a:rPr lang="en-US" sz="3200" i="1" dirty="0">
                <a:ea typeface="+mn-lt"/>
                <a:cs typeface="+mn-lt"/>
              </a:rPr>
              <a:t>false serialization </a:t>
            </a:r>
            <a:r>
              <a:rPr lang="en-US" sz="3200" dirty="0">
                <a:ea typeface="+mn-lt"/>
                <a:cs typeface="+mn-lt"/>
              </a:rPr>
              <a:t>can severely restrict the ability of pro- grams to exploit concurrency.</a:t>
            </a:r>
            <a:endParaRPr lang="en-US"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宋体"/>
              <a:cs typeface="Calibri"/>
            </a:endParaRPr>
          </a:p>
          <a:p>
            <a:pPr algn="l"/>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altLang="zh-CN"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altLang="zh-CN" sz="3200" dirty="0">
              <a:ea typeface="宋体"/>
              <a:cs typeface="Calibri"/>
            </a:endParaRPr>
          </a:p>
          <a:p>
            <a:endParaRPr lang="zh-CN" sz="3200" dirty="0">
              <a:ea typeface="宋体"/>
              <a:cs typeface="Calibri"/>
            </a:endParaRPr>
          </a:p>
          <a:p>
            <a:endParaRPr lang="zh-CN" altLang="en-US" dirty="0">
              <a:ea typeface="宋体"/>
              <a:cs typeface="Calibri"/>
            </a:endParaRPr>
          </a:p>
        </p:txBody>
      </p:sp>
    </p:spTree>
    <p:extLst>
      <p:ext uri="{BB962C8B-B14F-4D97-AF65-F5344CB8AC3E}">
        <p14:creationId xmlns:p14="http://schemas.microsoft.com/office/powerpoint/2010/main" val="2063039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1BEC379-8EA6-01AE-7BAD-CD847184F1EC}"/>
              </a:ext>
            </a:extLst>
          </p:cNvPr>
          <p:cNvSpPr txBox="1"/>
          <p:nvPr/>
        </p:nvSpPr>
        <p:spPr>
          <a:xfrm>
            <a:off x="643466" y="417689"/>
            <a:ext cx="10555111" cy="156350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ea typeface="+mn-lt"/>
                <a:cs typeface="+mn-lt"/>
              </a:rPr>
              <a:t>Our N : 1 mapping scheme takes a 2D logical grid and a 3D logical thread block and executes them using a 1D grid and 1D thread blocks.</a:t>
            </a:r>
            <a:endParaRPr lang="zh-CN" dirty="0">
              <a:ea typeface="+mn-lt"/>
              <a:cs typeface="+mn-lt"/>
            </a:endParaRPr>
          </a:p>
          <a:p>
            <a:endParaRPr lang="en-US" sz="3200" dirty="0">
              <a:ea typeface="+mn-lt"/>
              <a:cs typeface="+mn-lt"/>
            </a:endParaRPr>
          </a:p>
          <a:p>
            <a:r>
              <a:rPr lang="en-US" sz="3200">
                <a:ea typeface="+mn-lt"/>
                <a:cs typeface="+mn-lt"/>
              </a:rPr>
              <a:t>To preserve program semantics with respect to identities, we also replace any references to physical dimension variables (</a:t>
            </a:r>
            <a:r>
              <a:rPr lang="en-US" sz="3200" err="1">
                <a:ea typeface="+mn-lt"/>
                <a:cs typeface="+mn-lt"/>
              </a:rPr>
              <a:t>gridDim</a:t>
            </a:r>
            <a:r>
              <a:rPr lang="en-US" sz="3200">
                <a:ea typeface="+mn-lt"/>
                <a:cs typeface="+mn-lt"/>
              </a:rPr>
              <a:t>, </a:t>
            </a:r>
            <a:r>
              <a:rPr lang="en-US" sz="3200" err="1">
                <a:ea typeface="+mn-lt"/>
                <a:cs typeface="+mn-lt"/>
              </a:rPr>
              <a:t>blockDim</a:t>
            </a:r>
            <a:r>
              <a:rPr lang="en-US" sz="3200">
                <a:ea typeface="+mn-lt"/>
                <a:cs typeface="+mn-lt"/>
              </a:rPr>
              <a:t>) and physical identity variables (</a:t>
            </a:r>
            <a:r>
              <a:rPr lang="en-US" sz="3200" err="1">
                <a:ea typeface="+mn-lt"/>
                <a:cs typeface="+mn-lt"/>
              </a:rPr>
              <a:t>blockIdx</a:t>
            </a:r>
            <a:r>
              <a:rPr lang="en-US" sz="3200">
                <a:ea typeface="+mn-lt"/>
                <a:cs typeface="+mn-lt"/>
              </a:rPr>
              <a:t>, </a:t>
            </a:r>
            <a:r>
              <a:rPr lang="en-US" sz="3200" err="1">
                <a:ea typeface="+mn-lt"/>
                <a:cs typeface="+mn-lt"/>
              </a:rPr>
              <a:t>threadIdx</a:t>
            </a:r>
            <a:r>
              <a:rPr lang="en-US" sz="3200">
                <a:ea typeface="+mn-lt"/>
                <a:cs typeface="+mn-lt"/>
              </a:rPr>
              <a:t>) in the original kernel code with their logical equivalents (</a:t>
            </a:r>
            <a:r>
              <a:rPr lang="en-US" sz="3200" err="1">
                <a:ea typeface="+mn-lt"/>
                <a:cs typeface="+mn-lt"/>
              </a:rPr>
              <a:t>gd</a:t>
            </a:r>
            <a:r>
              <a:rPr lang="en-US" sz="3200">
                <a:ea typeface="+mn-lt"/>
                <a:cs typeface="+mn-lt"/>
              </a:rPr>
              <a:t>, bd, bi and </a:t>
            </a:r>
            <a:r>
              <a:rPr lang="en-US" sz="3200" err="1">
                <a:ea typeface="+mn-lt"/>
                <a:cs typeface="+mn-lt"/>
              </a:rPr>
              <a:t>ti</a:t>
            </a:r>
            <a:r>
              <a:rPr lang="en-US" sz="3200">
                <a:ea typeface="+mn-lt"/>
                <a:cs typeface="+mn-lt"/>
              </a:rPr>
              <a:t> respectively). </a:t>
            </a:r>
            <a:endParaRPr lang="en-US">
              <a:ea typeface="+mn-lt"/>
              <a:cs typeface="+mn-lt"/>
            </a:endParaRPr>
          </a:p>
          <a:p>
            <a:endParaRPr lang="en-US" sz="3200" dirty="0">
              <a:ea typeface="+mn-lt"/>
              <a:cs typeface="+mn-lt"/>
            </a:endParaRPr>
          </a:p>
          <a:p>
            <a:endParaRPr lang="en-US" altLang="zh-CN"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宋体"/>
              <a:cs typeface="+mn-lt"/>
            </a:endParaRPr>
          </a:p>
          <a:p>
            <a:endParaRPr lang="en-US" sz="3200" dirty="0">
              <a:ea typeface="宋体"/>
              <a:cs typeface="+mn-lt"/>
            </a:endParaRPr>
          </a:p>
          <a:p>
            <a:endParaRPr lang="en-US" sz="3200" dirty="0">
              <a:ea typeface="宋体"/>
              <a:cs typeface="Calibri"/>
            </a:endParaRPr>
          </a:p>
          <a:p>
            <a:pPr algn="l"/>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altLang="zh-CN"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altLang="zh-CN" sz="3200" dirty="0">
              <a:ea typeface="宋体"/>
              <a:cs typeface="Calibri"/>
            </a:endParaRPr>
          </a:p>
          <a:p>
            <a:endParaRPr lang="zh-CN" sz="3200" dirty="0">
              <a:ea typeface="宋体"/>
              <a:cs typeface="Calibri"/>
            </a:endParaRPr>
          </a:p>
          <a:p>
            <a:endParaRPr lang="zh-CN" altLang="en-US" dirty="0">
              <a:ea typeface="宋体"/>
              <a:cs typeface="Calibri"/>
            </a:endParaRPr>
          </a:p>
        </p:txBody>
      </p:sp>
    </p:spTree>
    <p:extLst>
      <p:ext uri="{BB962C8B-B14F-4D97-AF65-F5344CB8AC3E}">
        <p14:creationId xmlns:p14="http://schemas.microsoft.com/office/powerpoint/2010/main" val="4204941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1BEC379-8EA6-01AE-7BAD-CD847184F1EC}"/>
              </a:ext>
            </a:extLst>
          </p:cNvPr>
          <p:cNvSpPr txBox="1"/>
          <p:nvPr/>
        </p:nvSpPr>
        <p:spPr>
          <a:xfrm>
            <a:off x="643466" y="417689"/>
            <a:ext cx="10555111" cy="151426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ea typeface="+mn-lt"/>
                <a:cs typeface="+mn-lt"/>
              </a:rPr>
              <a:t>Change the kernels that use shared memory or synchronization instructions will violate CUDA semantics for shared memory accesses and behavior of synchronization instructions. So, they do not apply thread block resizing to kernels that use shared memory or synchronization instructions</a:t>
            </a:r>
            <a:endParaRPr lang="zh-CN"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altLang="zh-CN"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宋体"/>
              <a:cs typeface="+mn-lt"/>
            </a:endParaRPr>
          </a:p>
          <a:p>
            <a:endParaRPr lang="en-US" sz="3200" dirty="0">
              <a:ea typeface="宋体"/>
              <a:cs typeface="+mn-lt"/>
            </a:endParaRPr>
          </a:p>
          <a:p>
            <a:endParaRPr lang="en-US" sz="3200" dirty="0">
              <a:ea typeface="宋体"/>
              <a:cs typeface="Calibri"/>
            </a:endParaRPr>
          </a:p>
          <a:p>
            <a:pPr algn="l"/>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altLang="zh-CN"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altLang="zh-CN" sz="3200" dirty="0">
              <a:ea typeface="宋体"/>
              <a:cs typeface="Calibri"/>
            </a:endParaRPr>
          </a:p>
          <a:p>
            <a:endParaRPr lang="zh-CN" sz="3200" dirty="0">
              <a:ea typeface="宋体"/>
              <a:cs typeface="Calibri"/>
            </a:endParaRPr>
          </a:p>
          <a:p>
            <a:endParaRPr lang="zh-CN" altLang="en-US" dirty="0">
              <a:ea typeface="宋体"/>
              <a:cs typeface="Calibri"/>
            </a:endParaRPr>
          </a:p>
        </p:txBody>
      </p:sp>
    </p:spTree>
    <p:extLst>
      <p:ext uri="{BB962C8B-B14F-4D97-AF65-F5344CB8AC3E}">
        <p14:creationId xmlns:p14="http://schemas.microsoft.com/office/powerpoint/2010/main" val="32468006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1BEC379-8EA6-01AE-7BAD-CD847184F1EC}"/>
              </a:ext>
            </a:extLst>
          </p:cNvPr>
          <p:cNvSpPr txBox="1"/>
          <p:nvPr/>
        </p:nvSpPr>
        <p:spPr>
          <a:xfrm>
            <a:off x="643466" y="417689"/>
            <a:ext cx="10555111" cy="161274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200" dirty="0">
                <a:ea typeface="+mn-lt"/>
                <a:cs typeface="+mn-lt"/>
              </a:rPr>
              <a:t>forced to use ordinary variables to store logical identities </a:t>
            </a:r>
            <a:r>
              <a:rPr lang="en-US" sz="3200">
                <a:ea typeface="+mn-lt"/>
                <a:cs typeface="+mn-lt"/>
              </a:rPr>
              <a:t>and dimensions, increases register usage of the kernel and can cause a potential drop in throughput</a:t>
            </a:r>
            <a:endParaRPr lang="en-US" sz="3200" dirty="0">
              <a:ea typeface="+mn-lt"/>
              <a:cs typeface="+mn-lt"/>
            </a:endParaRPr>
          </a:p>
          <a:p>
            <a:pPr marL="457200" indent="-457200">
              <a:buFont typeface="Arial"/>
              <a:buChar char="•"/>
            </a:pPr>
            <a:endParaRPr lang="en-US" sz="3200" dirty="0">
              <a:ea typeface="+mn-lt"/>
              <a:cs typeface="+mn-lt"/>
            </a:endParaRPr>
          </a:p>
          <a:p>
            <a:pPr marL="457200" indent="-457200">
              <a:buFont typeface="Arial"/>
              <a:buChar char="•"/>
            </a:pPr>
            <a:r>
              <a:rPr lang="en-US" sz="3200">
                <a:ea typeface="+mn-lt"/>
                <a:cs typeface="+mn-lt"/>
              </a:rPr>
              <a:t>use of the division and modulus operations in our transformed kernels which are not supported natively by the Fermi hardware</a:t>
            </a:r>
            <a:endParaRPr lang="en-US" sz="3200" dirty="0">
              <a:ea typeface="+mn-lt"/>
              <a:cs typeface="+mn-lt"/>
            </a:endParaRPr>
          </a:p>
          <a:p>
            <a:pPr marL="457200" indent="-457200">
              <a:buFont typeface="Arial"/>
              <a:buChar char="•"/>
            </a:pPr>
            <a:endParaRPr lang="en-US" sz="3200" dirty="0">
              <a:ea typeface="+mn-lt"/>
              <a:cs typeface="+mn-lt"/>
            </a:endParaRPr>
          </a:p>
          <a:p>
            <a:pPr marL="457200" indent="-457200">
              <a:buFont typeface="Arial"/>
              <a:buChar char="•"/>
            </a:pPr>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altLang="zh-CN"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宋体"/>
              <a:cs typeface="+mn-lt"/>
            </a:endParaRPr>
          </a:p>
          <a:p>
            <a:endParaRPr lang="en-US" sz="3200" dirty="0">
              <a:ea typeface="宋体"/>
              <a:cs typeface="+mn-lt"/>
            </a:endParaRPr>
          </a:p>
          <a:p>
            <a:endParaRPr lang="en-US" sz="3200" dirty="0">
              <a:ea typeface="宋体"/>
              <a:cs typeface="Calibri"/>
            </a:endParaRPr>
          </a:p>
          <a:p>
            <a:pPr algn="l"/>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altLang="zh-CN"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altLang="zh-CN" sz="3200" dirty="0">
              <a:ea typeface="宋体"/>
              <a:cs typeface="Calibri"/>
            </a:endParaRPr>
          </a:p>
          <a:p>
            <a:endParaRPr lang="zh-CN" sz="3200" dirty="0">
              <a:ea typeface="宋体"/>
              <a:cs typeface="Calibri"/>
            </a:endParaRPr>
          </a:p>
          <a:p>
            <a:endParaRPr lang="zh-CN" altLang="en-US" dirty="0">
              <a:ea typeface="宋体"/>
              <a:cs typeface="Calibri"/>
            </a:endParaRPr>
          </a:p>
        </p:txBody>
      </p:sp>
    </p:spTree>
    <p:extLst>
      <p:ext uri="{BB962C8B-B14F-4D97-AF65-F5344CB8AC3E}">
        <p14:creationId xmlns:p14="http://schemas.microsoft.com/office/powerpoint/2010/main" val="21367613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1BEC379-8EA6-01AE-7BAD-CD847184F1EC}"/>
              </a:ext>
            </a:extLst>
          </p:cNvPr>
          <p:cNvSpPr txBox="1"/>
          <p:nvPr/>
        </p:nvSpPr>
        <p:spPr>
          <a:xfrm>
            <a:off x="643466" y="417689"/>
            <a:ext cx="10555111" cy="131728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3200" dirty="0">
              <a:ea typeface="+mn-lt"/>
              <a:cs typeface="+mn-lt"/>
            </a:endParaRPr>
          </a:p>
          <a:p>
            <a:pPr marL="457200" indent="-457200">
              <a:buFont typeface="Arial"/>
              <a:buChar char="•"/>
            </a:pPr>
            <a:endParaRPr lang="en-US" sz="3200" dirty="0">
              <a:ea typeface="+mn-lt"/>
              <a:cs typeface="+mn-lt"/>
            </a:endParaRPr>
          </a:p>
          <a:p>
            <a:pPr marL="457200" indent="-457200">
              <a:buFont typeface="Arial"/>
              <a:buChar char="•"/>
            </a:pPr>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altLang="zh-CN"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宋体"/>
              <a:cs typeface="+mn-lt"/>
            </a:endParaRPr>
          </a:p>
          <a:p>
            <a:endParaRPr lang="en-US" sz="3200" dirty="0">
              <a:ea typeface="宋体"/>
              <a:cs typeface="+mn-lt"/>
            </a:endParaRPr>
          </a:p>
          <a:p>
            <a:endParaRPr lang="en-US" sz="3200" dirty="0">
              <a:ea typeface="宋体"/>
              <a:cs typeface="Calibri"/>
            </a:endParaRPr>
          </a:p>
          <a:p>
            <a:pPr algn="l"/>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altLang="zh-CN"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altLang="zh-CN" sz="3200" dirty="0">
              <a:ea typeface="宋体"/>
              <a:cs typeface="Calibri"/>
            </a:endParaRPr>
          </a:p>
          <a:p>
            <a:endParaRPr lang="zh-CN" sz="3200" dirty="0">
              <a:ea typeface="宋体"/>
              <a:cs typeface="Calibri"/>
            </a:endParaRPr>
          </a:p>
          <a:p>
            <a:endParaRPr lang="zh-CN" altLang="en-US" dirty="0">
              <a:ea typeface="宋体"/>
              <a:cs typeface="Calibri"/>
            </a:endParaRPr>
          </a:p>
        </p:txBody>
      </p:sp>
      <p:pic>
        <p:nvPicPr>
          <p:cNvPr id="2" name="图片 2" descr="文本&#10;&#10;已自动生成说明">
            <a:extLst>
              <a:ext uri="{FF2B5EF4-FFF2-40B4-BE49-F238E27FC236}">
                <a16:creationId xmlns:a16="http://schemas.microsoft.com/office/drawing/2014/main" id="{7401306C-85E6-DBED-B6DA-3340614D4799}"/>
              </a:ext>
            </a:extLst>
          </p:cNvPr>
          <p:cNvPicPr>
            <a:picLocks noChangeAspect="1"/>
          </p:cNvPicPr>
          <p:nvPr/>
        </p:nvPicPr>
        <p:blipFill>
          <a:blip r:embed="rId2"/>
          <a:stretch>
            <a:fillRect/>
          </a:stretch>
        </p:blipFill>
        <p:spPr>
          <a:xfrm>
            <a:off x="2394607" y="183020"/>
            <a:ext cx="7367751" cy="6456927"/>
          </a:xfrm>
          <a:prstGeom prst="rect">
            <a:avLst/>
          </a:prstGeom>
        </p:spPr>
      </p:pic>
    </p:spTree>
    <p:extLst>
      <p:ext uri="{BB962C8B-B14F-4D97-AF65-F5344CB8AC3E}">
        <p14:creationId xmlns:p14="http://schemas.microsoft.com/office/powerpoint/2010/main" val="1530223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1BEC379-8EA6-01AE-7BAD-CD847184F1EC}"/>
              </a:ext>
            </a:extLst>
          </p:cNvPr>
          <p:cNvSpPr txBox="1"/>
          <p:nvPr/>
        </p:nvSpPr>
        <p:spPr>
          <a:xfrm>
            <a:off x="625949" y="207482"/>
            <a:ext cx="10555111" cy="190821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200" dirty="0">
                <a:ea typeface="+mn-lt"/>
                <a:cs typeface="+mn-lt"/>
              </a:rPr>
              <a:t>The MEDIAN policy uses profile-based information to reserve resources for a hypothetical </a:t>
            </a:r>
            <a:r>
              <a:rPr lang="en-US" sz="3200" i="1" dirty="0">
                <a:ea typeface="+mn-lt"/>
                <a:cs typeface="+mn-lt"/>
              </a:rPr>
              <a:t>median </a:t>
            </a:r>
            <a:r>
              <a:rPr lang="en-US" sz="3200" dirty="0">
                <a:ea typeface="+mn-lt"/>
                <a:cs typeface="+mn-lt"/>
              </a:rPr>
              <a:t>kernel.</a:t>
            </a:r>
            <a:endParaRPr lang="zh-CN"/>
          </a:p>
          <a:p>
            <a:pPr marL="457200" indent="-457200">
              <a:buFont typeface="Arial"/>
              <a:buChar char="•"/>
            </a:pPr>
            <a:r>
              <a:rPr lang="en-US" sz="3200" dirty="0">
                <a:ea typeface="+mn-lt"/>
                <a:cs typeface="+mn-lt"/>
              </a:rPr>
              <a:t>MPMAX policy also uses profile information to reserve resources. This largest kernel need not correspond to an actual kernel of the program – it may have the register usage of one kernel and the shared memory usage of another. </a:t>
            </a:r>
          </a:p>
          <a:p>
            <a:pPr marL="457200" indent="-457200">
              <a:buFont typeface="Arial"/>
              <a:buChar char="•"/>
            </a:pPr>
            <a:r>
              <a:rPr lang="en-US" sz="3200" dirty="0">
                <a:ea typeface="+mn-lt"/>
                <a:cs typeface="+mn-lt"/>
              </a:rPr>
              <a:t>The EQUAL policy partitions GPU resources equally among all concurrently running programs.</a:t>
            </a:r>
          </a:p>
          <a:p>
            <a:pPr marL="457200" indent="-457200">
              <a:buFont typeface="Arial"/>
              <a:buChar char="•"/>
            </a:pPr>
            <a:r>
              <a:rPr lang="en-US" sz="3200" dirty="0">
                <a:ea typeface="+mn-lt"/>
                <a:cs typeface="+mn-lt"/>
              </a:rPr>
              <a:t>The QUEUEMOLD policy examines all kernels waiting to be launched and modifies the resources requested by them if they make excessive use of: (</a:t>
            </a:r>
            <a:r>
              <a:rPr lang="en-US" sz="3200" dirty="0" err="1">
                <a:ea typeface="+mn-lt"/>
                <a:cs typeface="+mn-lt"/>
              </a:rPr>
              <a:t>i</a:t>
            </a:r>
            <a:r>
              <a:rPr lang="en-US" sz="3200" dirty="0">
                <a:ea typeface="+mn-lt"/>
                <a:cs typeface="+mn-lt"/>
              </a:rPr>
              <a:t>) shared memory or (ii) threads. </a:t>
            </a:r>
          </a:p>
          <a:p>
            <a:pPr marL="457200" indent="-457200">
              <a:buFont typeface="Arial"/>
              <a:buChar char="•"/>
            </a:pPr>
            <a:endParaRPr lang="en-US" sz="3200" dirty="0">
              <a:ea typeface="+mn-lt"/>
              <a:cs typeface="+mn-lt"/>
            </a:endParaRPr>
          </a:p>
          <a:p>
            <a:pPr marL="457200" indent="-457200">
              <a:buFont typeface="Arial"/>
              <a:buChar char="•"/>
            </a:pPr>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altLang="zh-CN"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mn-lt"/>
              <a:cs typeface="+mn-lt"/>
            </a:endParaRPr>
          </a:p>
          <a:p>
            <a:endParaRPr lang="en-US" sz="3200" dirty="0">
              <a:ea typeface="宋体"/>
              <a:cs typeface="+mn-lt"/>
            </a:endParaRPr>
          </a:p>
          <a:p>
            <a:endParaRPr lang="en-US" sz="3200" dirty="0">
              <a:ea typeface="宋体"/>
              <a:cs typeface="+mn-lt"/>
            </a:endParaRPr>
          </a:p>
          <a:p>
            <a:endParaRPr lang="en-US" sz="3200" dirty="0">
              <a:ea typeface="宋体"/>
              <a:cs typeface="Calibri"/>
            </a:endParaRPr>
          </a:p>
          <a:p>
            <a:pPr algn="l"/>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altLang="zh-CN"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sz="3200" dirty="0">
              <a:ea typeface="宋体"/>
              <a:cs typeface="Calibri"/>
            </a:endParaRPr>
          </a:p>
          <a:p>
            <a:endParaRPr lang="en-US" altLang="zh-CN" sz="3200" dirty="0">
              <a:ea typeface="宋体"/>
              <a:cs typeface="Calibri"/>
            </a:endParaRPr>
          </a:p>
          <a:p>
            <a:endParaRPr lang="zh-CN" sz="3200" dirty="0">
              <a:ea typeface="宋体"/>
              <a:cs typeface="Calibri"/>
            </a:endParaRPr>
          </a:p>
          <a:p>
            <a:endParaRPr lang="zh-CN" altLang="en-US" dirty="0">
              <a:ea typeface="宋体"/>
              <a:cs typeface="Calibri"/>
            </a:endParaRPr>
          </a:p>
        </p:txBody>
      </p:sp>
    </p:spTree>
    <p:extLst>
      <p:ext uri="{BB962C8B-B14F-4D97-AF65-F5344CB8AC3E}">
        <p14:creationId xmlns:p14="http://schemas.microsoft.com/office/powerpoint/2010/main" val="19662941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1BEC379-8EA6-01AE-7BAD-CD847184F1EC}"/>
              </a:ext>
            </a:extLst>
          </p:cNvPr>
          <p:cNvSpPr txBox="1"/>
          <p:nvPr/>
        </p:nvSpPr>
        <p:spPr>
          <a:xfrm>
            <a:off x="625949" y="207482"/>
            <a:ext cx="10555111" cy="195745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ea typeface="+mn-lt"/>
                <a:cs typeface="+mn-lt"/>
              </a:rPr>
              <a:t>NSS is only concerned with the serializing behavior of the </a:t>
            </a:r>
            <a:r>
              <a:rPr lang="en-US" sz="3200" i="1" dirty="0">
                <a:ea typeface="+mn-lt"/>
                <a:cs typeface="+mn-lt"/>
              </a:rPr>
              <a:t>M–K </a:t>
            </a:r>
            <a:r>
              <a:rPr lang="en-US" sz="3200" dirty="0">
                <a:ea typeface="+mn-lt"/>
                <a:cs typeface="+mn-lt"/>
              </a:rPr>
              <a:t>and </a:t>
            </a:r>
            <a:r>
              <a:rPr lang="en-US" sz="3200" i="1" dirty="0">
                <a:ea typeface="+mn-lt"/>
                <a:cs typeface="+mn-lt"/>
              </a:rPr>
              <a:t>K–M </a:t>
            </a:r>
            <a:r>
              <a:rPr lang="en-US" sz="3200" dirty="0">
                <a:ea typeface="+mn-lt"/>
                <a:cs typeface="+mn-lt"/>
              </a:rPr>
              <a:t>dependency checks, it only need two CUDA streams. One of these is used for all memory operations, and the other is used for kernel execution.</a:t>
            </a:r>
          </a:p>
          <a:p>
            <a:endParaRPr lang="en-US" sz="3200">
              <a:ea typeface="+mn-lt"/>
              <a:cs typeface="+mn-lt"/>
            </a:endParaRPr>
          </a:p>
          <a:p>
            <a:r>
              <a:rPr lang="en-US" sz="3200" dirty="0">
                <a:ea typeface="+mn-lt"/>
                <a:cs typeface="+mn-lt"/>
              </a:rPr>
              <a:t>In order to enforce </a:t>
            </a:r>
            <a:r>
              <a:rPr lang="en-US" sz="3200" i="1" dirty="0">
                <a:ea typeface="+mn-lt"/>
                <a:cs typeface="+mn-lt"/>
              </a:rPr>
              <a:t>K–M </a:t>
            </a:r>
            <a:r>
              <a:rPr lang="en-US" sz="3200" dirty="0">
                <a:ea typeface="+mn-lt"/>
                <a:cs typeface="+mn-lt"/>
              </a:rPr>
              <a:t>and </a:t>
            </a:r>
            <a:r>
              <a:rPr lang="en-US" sz="3200" i="1" dirty="0">
                <a:ea typeface="+mn-lt"/>
                <a:cs typeface="+mn-lt"/>
              </a:rPr>
              <a:t>K–K </a:t>
            </a:r>
            <a:r>
              <a:rPr lang="en-US" sz="3200" dirty="0">
                <a:ea typeface="+mn-lt"/>
                <a:cs typeface="+mn-lt"/>
              </a:rPr>
              <a:t>dependencies, On every exit path of a kernel, they add the code shown in Listing 2. This code counts the thread blocks that have finished executing so far in the GPU-side </a:t>
            </a:r>
            <a:r>
              <a:rPr lang="en-US" sz="3200" dirty="0" err="1">
                <a:ea typeface="+mn-lt"/>
                <a:cs typeface="+mn-lt"/>
              </a:rPr>
              <a:t>blocks_done_d</a:t>
            </a:r>
            <a:r>
              <a:rPr lang="en-US" sz="3200" dirty="0">
                <a:ea typeface="+mn-lt"/>
                <a:cs typeface="+mn-lt"/>
              </a:rPr>
              <a:t> variable. Once all thread blocks have finished, the CPU/GPU shared (host-memory mapped) </a:t>
            </a:r>
            <a:r>
              <a:rPr lang="en-US" sz="3200" dirty="0" err="1">
                <a:ea typeface="+mn-lt"/>
                <a:cs typeface="+mn-lt"/>
              </a:rPr>
              <a:t>blocks_done_h</a:t>
            </a:r>
            <a:r>
              <a:rPr lang="en-US" sz="3200" dirty="0">
                <a:ea typeface="+mn-lt"/>
                <a:cs typeface="+mn-lt"/>
              </a:rPr>
              <a:t> is set, alerting a polling routine on the CPU of the completion of this kernel.</a:t>
            </a:r>
            <a:endParaRPr lang="en-US" sz="3200">
              <a:ea typeface="+mn-lt"/>
              <a:cs typeface="+mn-lt"/>
            </a:endParaRPr>
          </a:p>
          <a:p>
            <a:endParaRPr lang="en-US" sz="3200">
              <a:ea typeface="+mn-lt"/>
              <a:cs typeface="+mn-lt"/>
            </a:endParaRPr>
          </a:p>
          <a:p>
            <a:endParaRPr lang="en-US" sz="3200">
              <a:ea typeface="+mn-lt"/>
              <a:cs typeface="+mn-lt"/>
            </a:endParaRPr>
          </a:p>
          <a:p>
            <a:pPr marL="457200" indent="-457200">
              <a:buFont typeface="Arial"/>
              <a:buChar char="•"/>
            </a:pPr>
            <a:endParaRPr lang="en-US" sz="3200">
              <a:ea typeface="+mn-lt"/>
              <a:cs typeface="+mn-lt"/>
            </a:endParaRPr>
          </a:p>
          <a:p>
            <a:pPr marL="457200" indent="-457200">
              <a:buFont typeface="Arial"/>
              <a:buChar char="•"/>
            </a:pPr>
            <a:endParaRPr lang="en-US" sz="3200">
              <a:ea typeface="+mn-lt"/>
              <a:cs typeface="+mn-lt"/>
            </a:endParaRPr>
          </a:p>
          <a:p>
            <a:endParaRPr lang="en-US" sz="3200">
              <a:ea typeface="+mn-lt"/>
              <a:cs typeface="+mn-lt"/>
            </a:endParaRPr>
          </a:p>
          <a:p>
            <a:endParaRPr lang="en-US" sz="3200">
              <a:ea typeface="+mn-lt"/>
              <a:cs typeface="+mn-lt"/>
            </a:endParaRPr>
          </a:p>
          <a:p>
            <a:endParaRPr lang="en-US" altLang="zh-CN" sz="3200">
              <a:ea typeface="+mn-lt"/>
              <a:cs typeface="+mn-lt"/>
            </a:endParaRPr>
          </a:p>
          <a:p>
            <a:endParaRPr lang="en-US" sz="3200">
              <a:ea typeface="+mn-lt"/>
              <a:cs typeface="+mn-lt"/>
            </a:endParaRPr>
          </a:p>
          <a:p>
            <a:endParaRPr lang="en-US" sz="3200">
              <a:ea typeface="+mn-lt"/>
              <a:cs typeface="+mn-lt"/>
            </a:endParaRPr>
          </a:p>
          <a:p>
            <a:endParaRPr lang="en-US" sz="3200">
              <a:ea typeface="+mn-lt"/>
              <a:cs typeface="+mn-lt"/>
            </a:endParaRPr>
          </a:p>
          <a:p>
            <a:endParaRPr lang="en-US" sz="3200">
              <a:ea typeface="+mn-lt"/>
              <a:cs typeface="+mn-lt"/>
            </a:endParaRPr>
          </a:p>
          <a:p>
            <a:endParaRPr lang="en-US" sz="3200">
              <a:ea typeface="+mn-lt"/>
              <a:cs typeface="+mn-lt"/>
            </a:endParaRPr>
          </a:p>
          <a:p>
            <a:endParaRPr lang="en-US" sz="3200">
              <a:ea typeface="宋体"/>
              <a:cs typeface="+mn-lt"/>
            </a:endParaRPr>
          </a:p>
          <a:p>
            <a:endParaRPr lang="en-US" sz="3200">
              <a:ea typeface="宋体"/>
              <a:cs typeface="+mn-lt"/>
            </a:endParaRPr>
          </a:p>
          <a:p>
            <a:endParaRPr lang="en-US" sz="3200">
              <a:ea typeface="宋体"/>
              <a:cs typeface="Calibri"/>
            </a:endParaRPr>
          </a:p>
          <a:p>
            <a:pPr algn="l"/>
            <a:endParaRPr lang="en-US" sz="3200">
              <a:ea typeface="宋体"/>
              <a:cs typeface="Calibri"/>
            </a:endParaRPr>
          </a:p>
          <a:p>
            <a:endParaRPr lang="en-US" sz="3200">
              <a:ea typeface="宋体"/>
              <a:cs typeface="Calibri"/>
            </a:endParaRPr>
          </a:p>
          <a:p>
            <a:endParaRPr lang="en-US" sz="3200">
              <a:ea typeface="宋体"/>
              <a:cs typeface="Calibri"/>
            </a:endParaRPr>
          </a:p>
          <a:p>
            <a:endParaRPr lang="en-US" sz="3200">
              <a:ea typeface="宋体"/>
              <a:cs typeface="Calibri"/>
            </a:endParaRPr>
          </a:p>
          <a:p>
            <a:endParaRPr lang="en-US" altLang="zh-CN" sz="3200">
              <a:ea typeface="宋体"/>
              <a:cs typeface="Calibri"/>
            </a:endParaRPr>
          </a:p>
          <a:p>
            <a:endParaRPr lang="en-US" sz="3200">
              <a:ea typeface="宋体"/>
              <a:cs typeface="Calibri"/>
            </a:endParaRPr>
          </a:p>
          <a:p>
            <a:endParaRPr lang="en-US" sz="3200">
              <a:ea typeface="宋体"/>
              <a:cs typeface="Calibri"/>
            </a:endParaRPr>
          </a:p>
          <a:p>
            <a:endParaRPr lang="en-US" sz="3200">
              <a:ea typeface="宋体"/>
              <a:cs typeface="Calibri"/>
            </a:endParaRPr>
          </a:p>
          <a:p>
            <a:endParaRPr lang="en-US" sz="3200">
              <a:ea typeface="宋体"/>
              <a:cs typeface="Calibri"/>
            </a:endParaRPr>
          </a:p>
          <a:p>
            <a:endParaRPr lang="en-US" sz="3200">
              <a:ea typeface="宋体"/>
              <a:cs typeface="Calibri"/>
            </a:endParaRPr>
          </a:p>
          <a:p>
            <a:endParaRPr lang="en-US" altLang="zh-CN" sz="3200">
              <a:ea typeface="宋体"/>
              <a:cs typeface="Calibri"/>
            </a:endParaRPr>
          </a:p>
          <a:p>
            <a:endParaRPr lang="zh-CN" sz="3200">
              <a:ea typeface="宋体"/>
              <a:cs typeface="Calibri"/>
            </a:endParaRPr>
          </a:p>
          <a:p>
            <a:endParaRPr lang="zh-CN" altLang="en-US">
              <a:ea typeface="宋体"/>
              <a:cs typeface="Calibri"/>
            </a:endParaRPr>
          </a:p>
        </p:txBody>
      </p:sp>
    </p:spTree>
    <p:extLst>
      <p:ext uri="{BB962C8B-B14F-4D97-AF65-F5344CB8AC3E}">
        <p14:creationId xmlns:p14="http://schemas.microsoft.com/office/powerpoint/2010/main" val="384186197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宽屏</PresentationFormat>
  <Paragraphs>0</Paragraphs>
  <Slides>21</Slides>
  <Notes>0</Notes>
  <HiddenSlides>0</HiddenSlides>
  <MMClips>0</MMClips>
  <ScaleCrop>false</ScaleCrop>
  <HeadingPairs>
    <vt:vector size="4" baseType="variant">
      <vt:variant>
        <vt:lpstr>主题</vt:lpstr>
      </vt:variant>
      <vt:variant>
        <vt:i4>1</vt:i4>
      </vt:variant>
      <vt:variant>
        <vt:lpstr>幻灯片标题</vt:lpstr>
      </vt:variant>
      <vt:variant>
        <vt:i4>21</vt:i4>
      </vt:variant>
    </vt:vector>
  </HeadingPairs>
  <TitlesOfParts>
    <vt:vector size="22" baseType="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
  <cp:revision>161</cp:revision>
  <dcterms:created xsi:type="dcterms:W3CDTF">2023-04-12T02:30:31Z</dcterms:created>
  <dcterms:modified xsi:type="dcterms:W3CDTF">2023-05-11T02:25:26Z</dcterms:modified>
</cp:coreProperties>
</file>